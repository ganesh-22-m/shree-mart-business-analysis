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Learn More" id="{62756D7E-964E-493A-83A1-13BC0B6B5E4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98" autoAdjust="0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SHREE MART</a:t>
            </a:r>
            <a:br>
              <a:rPr lang="en-US" dirty="0"/>
            </a:br>
            <a:r>
              <a:rPr lang="en-US" dirty="0"/>
              <a:t>End-to-End Business Analysis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0512"/>
            <a:ext cx="9144000" cy="1287675"/>
          </a:xfrm>
        </p:spPr>
        <p:txBody>
          <a:bodyPr/>
          <a:lstStyle/>
          <a:p>
            <a:r>
              <a:rPr lang="en-US" dirty="0"/>
              <a:t>Business Analyst Portfolio project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9444318" y="5080801"/>
            <a:ext cx="2447364" cy="495232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14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Prepared By</a:t>
            </a:r>
          </a:p>
          <a:p>
            <a:pPr>
              <a:spcBef>
                <a:spcPts val="1000"/>
              </a:spcBef>
            </a:pPr>
            <a:r>
              <a:rPr lang="en-US" sz="14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Ganesh Mahajan</a:t>
            </a:r>
          </a:p>
          <a:p>
            <a:pPr>
              <a:spcBef>
                <a:spcPts val="1000"/>
              </a:spcBef>
            </a:pPr>
            <a:r>
              <a:rPr lang="en-US" sz="14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Business Analyst</a:t>
            </a:r>
          </a:p>
          <a:p>
            <a:pPr>
              <a:spcBef>
                <a:spcPts val="1000"/>
              </a:spcBef>
            </a:pPr>
            <a:r>
              <a:rPr lang="en-US" sz="14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Version 1.0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00642" y="5328417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Executive Summary </a:t>
            </a: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1689939" y="3611028"/>
            <a:ext cx="8812118" cy="303045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6921371-659C-985A-73E1-F803177A3BEC}"/>
              </a:ext>
            </a:extLst>
          </p:cNvPr>
          <p:cNvSpPr txBox="1"/>
          <p:nvPr/>
        </p:nvSpPr>
        <p:spPr>
          <a:xfrm>
            <a:off x="604433" y="1291908"/>
            <a:ext cx="109831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About Project</a:t>
            </a:r>
          </a:p>
          <a:p>
            <a:endParaRPr lang="en-IN" dirty="0"/>
          </a:p>
          <a:p>
            <a:r>
              <a:rPr lang="en-IN" sz="1600" dirty="0"/>
              <a:t>Shree Mart is a grocery retail management platform designed to digitize supermarket operations by providing an efficient solution for customer management, product management, order processing, inventory tracking, and sales reporting.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9DD715-BB74-001C-95CF-A3CE124FE9A3}"/>
              </a:ext>
            </a:extLst>
          </p:cNvPr>
          <p:cNvSpPr txBox="1"/>
          <p:nvPr/>
        </p:nvSpPr>
        <p:spPr>
          <a:xfrm>
            <a:off x="847501" y="3089707"/>
            <a:ext cx="60940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Business Goal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customer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Manage inventory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Simplify order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 business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 business decision-making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7E9C17-E79E-3F53-9A9F-E02BD300878B}"/>
              </a:ext>
            </a:extLst>
          </p:cNvPr>
          <p:cNvSpPr txBox="1"/>
          <p:nvPr/>
        </p:nvSpPr>
        <p:spPr>
          <a:xfrm>
            <a:off x="6224285" y="2772420"/>
            <a:ext cx="60940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Deliverables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Business Requirement Document (BRD)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Functional Requirement Document (FRD)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Software Requirement Specification (SRS)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Test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ER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SQL Database</a:t>
            </a: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b="1" dirty="0"/>
              <a:t>Project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C1E2E-F880-29D1-C7F9-042C32FDAEBB}"/>
              </a:ext>
            </a:extLst>
          </p:cNvPr>
          <p:cNvSpPr txBox="1"/>
          <p:nvPr/>
        </p:nvSpPr>
        <p:spPr>
          <a:xfrm>
            <a:off x="1120815" y="1395947"/>
            <a:ext cx="609407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🎯 </a:t>
            </a:r>
            <a:r>
              <a:rPr lang="en-IN" b="1" dirty="0"/>
              <a:t>In Scope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Registration &amp;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Product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Category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Order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Sales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Profile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DC8B9B-10B3-4C95-4D6E-68CE768459A6}"/>
              </a:ext>
            </a:extLst>
          </p:cNvPr>
          <p:cNvSpPr txBox="1"/>
          <p:nvPr/>
        </p:nvSpPr>
        <p:spPr>
          <a:xfrm>
            <a:off x="1120815" y="3965383"/>
            <a:ext cx="609407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 of Scope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Online Payment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Home Delivery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Loyalty Reward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Multi-Vendor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Mobile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 Recommendation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14F2F-93A5-2AB3-E0B6-45411FE69E97}"/>
              </a:ext>
            </a:extLst>
          </p:cNvPr>
          <p:cNvSpPr txBox="1"/>
          <p:nvPr/>
        </p:nvSpPr>
        <p:spPr>
          <a:xfrm>
            <a:off x="7924179" y="1349282"/>
            <a:ext cx="662650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Stakeholders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Owner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Cashier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Business Analyst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Development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Testing Team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6C974-A537-5573-A780-8DE99C75C17B}"/>
              </a:ext>
            </a:extLst>
          </p:cNvPr>
          <p:cNvSpPr txBox="1"/>
          <p:nvPr/>
        </p:nvSpPr>
        <p:spPr>
          <a:xfrm>
            <a:off x="7924179" y="4285714"/>
            <a:ext cx="73267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Expected Business Benefits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Faster Order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Inventory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Reduced Manual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Improved Customer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Business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Accurate Sales Reports</a:t>
            </a:r>
          </a:p>
        </p:txBody>
      </p:sp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Requirements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A0706-C46E-0B2D-2686-4D578147350D}"/>
              </a:ext>
            </a:extLst>
          </p:cNvPr>
          <p:cNvSpPr txBox="1"/>
          <p:nvPr/>
        </p:nvSpPr>
        <p:spPr>
          <a:xfrm>
            <a:off x="604434" y="1315445"/>
            <a:ext cx="1098313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sz="1600" dirty="0"/>
              <a:t>The existing grocery store operations are managed manually, resulting in inventory errors, delayed order processing, duplicate records, and limited business reporting capabilities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61030-9547-2955-44B8-D36352228022}"/>
              </a:ext>
            </a:extLst>
          </p:cNvPr>
          <p:cNvSpPr txBox="1"/>
          <p:nvPr/>
        </p:nvSpPr>
        <p:spPr>
          <a:xfrm>
            <a:off x="604434" y="2296272"/>
            <a:ext cx="609407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Business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Digitize supermarket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inventory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 manual paperwork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 real-time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 operational efficiency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2EA3F-5AE1-8A27-4B00-4551814A4E10}"/>
              </a:ext>
            </a:extLst>
          </p:cNvPr>
          <p:cNvSpPr txBox="1"/>
          <p:nvPr/>
        </p:nvSpPr>
        <p:spPr>
          <a:xfrm>
            <a:off x="6299523" y="2415491"/>
            <a:ext cx="609407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Functional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Registration &amp;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Product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Category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Order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Report Generation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56776-9B92-C821-F86C-8CEB8A774E32}"/>
              </a:ext>
            </a:extLst>
          </p:cNvPr>
          <p:cNvSpPr txBox="1"/>
          <p:nvPr/>
        </p:nvSpPr>
        <p:spPr>
          <a:xfrm>
            <a:off x="604434" y="4557920"/>
            <a:ext cx="862603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Non-Functional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User-friendly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Secure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Fast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Reliable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System Availability</a:t>
            </a:r>
          </a:p>
        </p:txBody>
      </p: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Process Improvement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798A6D-AEBA-2D69-8FAA-199F2919CC08}"/>
              </a:ext>
            </a:extLst>
          </p:cNvPr>
          <p:cNvSpPr txBox="1"/>
          <p:nvPr/>
        </p:nvSpPr>
        <p:spPr>
          <a:xfrm>
            <a:off x="960700" y="1327020"/>
            <a:ext cx="1013942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                                                Current Process (As-Is)</a:t>
            </a:r>
          </a:p>
          <a:p>
            <a:endParaRPr lang="en-IN" b="1" dirty="0"/>
          </a:p>
          <a:p>
            <a:r>
              <a:rPr lang="en-IN" sz="1600" dirty="0"/>
              <a:t>1. Customer visits store               2 .Staff checks product manually     3.  Inventory updated manually                  4. Order prepared manually            5.  Sales recorded in register               6.  Reports created manually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0118EF-A7BC-9EBD-C2A3-EC19FF8B32C6}"/>
              </a:ext>
            </a:extLst>
          </p:cNvPr>
          <p:cNvSpPr txBox="1"/>
          <p:nvPr/>
        </p:nvSpPr>
        <p:spPr>
          <a:xfrm>
            <a:off x="5373547" y="25418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⬇️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E9040-033D-2877-161C-6C19FB66B3FB}"/>
              </a:ext>
            </a:extLst>
          </p:cNvPr>
          <p:cNvSpPr txBox="1"/>
          <p:nvPr/>
        </p:nvSpPr>
        <p:spPr>
          <a:xfrm>
            <a:off x="1026289" y="3043862"/>
            <a:ext cx="101394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                                                               Problems</a:t>
            </a:r>
          </a:p>
          <a:p>
            <a:endParaRPr lang="en-IN" dirty="0"/>
          </a:p>
          <a:p>
            <a:r>
              <a:rPr lang="en-IN" sz="1600" dirty="0"/>
              <a:t>1. Inventory mismatch             2. Human errors              3. Time consuming       4.  Duplicate records                  5. Difficult reporting                    6 .Poor decision making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A1BEA-5E84-503B-DBDF-39E41BC12C54}"/>
              </a:ext>
            </a:extLst>
          </p:cNvPr>
          <p:cNvSpPr txBox="1"/>
          <p:nvPr/>
        </p:nvSpPr>
        <p:spPr>
          <a:xfrm>
            <a:off x="5373547" y="442877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⬇️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4A4984-A36A-173F-347A-159E9FA5D474}"/>
              </a:ext>
            </a:extLst>
          </p:cNvPr>
          <p:cNvSpPr txBox="1"/>
          <p:nvPr/>
        </p:nvSpPr>
        <p:spPr>
          <a:xfrm>
            <a:off x="960700" y="4930815"/>
            <a:ext cx="101394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           </a:t>
            </a:r>
            <a:r>
              <a:rPr lang="en-IN" b="1" dirty="0"/>
              <a:t>Proposed Process (To-Be)</a:t>
            </a:r>
          </a:p>
          <a:p>
            <a:endParaRPr lang="en-IN" dirty="0"/>
          </a:p>
          <a:p>
            <a:r>
              <a:rPr lang="en-IN" sz="1600" dirty="0"/>
              <a:t>1. Customer registered digitally         2 .Product searched instantly                3.  Inventory updated automatically                                      4. Orders managed digitally               5. Sales reports generated automatically              6.  Real-time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Stakeholder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8A50EA8-C519-9542-CB9F-8C8372F12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20151"/>
              </p:ext>
            </p:extLst>
          </p:nvPr>
        </p:nvGraphicFramePr>
        <p:xfrm>
          <a:off x="2002420" y="2108628"/>
          <a:ext cx="815757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913">
                  <a:extLst>
                    <a:ext uri="{9D8B030D-6E8A-4147-A177-3AD203B41FA5}">
                      <a16:colId xmlns:a16="http://schemas.microsoft.com/office/drawing/2014/main" val="24324625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78031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8054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Stakeholder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Responsibility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41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 Store Owner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Business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02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Store Manager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Daily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1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Cashier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Billing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Medium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36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 Inventory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Stock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6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Customer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Purchase Products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99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Business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Requirement Gathering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52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 Developer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38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Tester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15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Personas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1C82C-7C95-ED39-76B1-FAF42CDC43FE}"/>
              </a:ext>
            </a:extLst>
          </p:cNvPr>
          <p:cNvSpPr txBox="1"/>
          <p:nvPr/>
        </p:nvSpPr>
        <p:spPr>
          <a:xfrm>
            <a:off x="973722" y="2113304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Store Owner</a:t>
            </a:r>
          </a:p>
          <a:p>
            <a:endParaRPr lang="en-IN" dirty="0"/>
          </a:p>
          <a:p>
            <a:r>
              <a:rPr lang="en-IN" sz="1600" dirty="0"/>
              <a:t>Goal: </a:t>
            </a:r>
          </a:p>
          <a:p>
            <a:endParaRPr lang="en-IN" sz="1600" dirty="0"/>
          </a:p>
          <a:p>
            <a:r>
              <a:rPr lang="en-IN" sz="1600" dirty="0"/>
              <a:t>View Sales</a:t>
            </a:r>
          </a:p>
          <a:p>
            <a:r>
              <a:rPr lang="en-IN" sz="1600" dirty="0"/>
              <a:t>Increase Profit</a:t>
            </a:r>
          </a:p>
          <a:p>
            <a:endParaRPr lang="en-IN" sz="1600" dirty="0"/>
          </a:p>
          <a:p>
            <a:r>
              <a:rPr lang="en-IN" sz="1600" dirty="0"/>
              <a:t>Pain Points:</a:t>
            </a:r>
          </a:p>
          <a:p>
            <a:endParaRPr lang="en-IN" sz="1600" dirty="0"/>
          </a:p>
          <a:p>
            <a:r>
              <a:rPr lang="en-IN" sz="1600" dirty="0"/>
              <a:t>Manual Reports</a:t>
            </a:r>
          </a:p>
          <a:p>
            <a:r>
              <a:rPr lang="en-IN" sz="1600" dirty="0"/>
              <a:t>Wrong Inventory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6CDF1-4528-B914-40A9-ABC7E87C4730}"/>
              </a:ext>
            </a:extLst>
          </p:cNvPr>
          <p:cNvSpPr txBox="1"/>
          <p:nvPr/>
        </p:nvSpPr>
        <p:spPr>
          <a:xfrm>
            <a:off x="4990618" y="2113305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Customer</a:t>
            </a:r>
          </a:p>
          <a:p>
            <a:endParaRPr lang="en-IN" dirty="0"/>
          </a:p>
          <a:p>
            <a:r>
              <a:rPr lang="en-IN" sz="1600" dirty="0"/>
              <a:t>Goal:</a:t>
            </a:r>
          </a:p>
          <a:p>
            <a:endParaRPr lang="en-IN" sz="1600" dirty="0"/>
          </a:p>
          <a:p>
            <a:r>
              <a:rPr lang="en-IN" sz="1600" dirty="0"/>
              <a:t>Quick Purchase</a:t>
            </a:r>
          </a:p>
          <a:p>
            <a:r>
              <a:rPr lang="en-IN" sz="1600" dirty="0"/>
              <a:t>Accurate Billing</a:t>
            </a:r>
          </a:p>
          <a:p>
            <a:endParaRPr lang="en-IN" sz="1600" dirty="0"/>
          </a:p>
          <a:p>
            <a:r>
              <a:rPr lang="en-IN" sz="1600" dirty="0"/>
              <a:t>Pain Points:</a:t>
            </a:r>
          </a:p>
          <a:p>
            <a:endParaRPr lang="en-IN" sz="1600" dirty="0"/>
          </a:p>
          <a:p>
            <a:r>
              <a:rPr lang="en-IN" sz="1600" dirty="0"/>
              <a:t>Waiting Time</a:t>
            </a:r>
          </a:p>
          <a:p>
            <a:r>
              <a:rPr lang="en-IN" sz="1600" dirty="0"/>
              <a:t>Product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98F6D9-2E71-5EF4-F998-2D693F607E02}"/>
              </a:ext>
            </a:extLst>
          </p:cNvPr>
          <p:cNvSpPr txBox="1"/>
          <p:nvPr/>
        </p:nvSpPr>
        <p:spPr>
          <a:xfrm>
            <a:off x="9144965" y="2113305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Cashier</a:t>
            </a:r>
          </a:p>
          <a:p>
            <a:endParaRPr lang="en-IN" dirty="0"/>
          </a:p>
          <a:p>
            <a:r>
              <a:rPr lang="en-IN" sz="1600" dirty="0"/>
              <a:t>Goal:</a:t>
            </a:r>
          </a:p>
          <a:p>
            <a:endParaRPr lang="en-IN" sz="1600" dirty="0"/>
          </a:p>
          <a:p>
            <a:r>
              <a:rPr lang="en-IN" sz="1600" dirty="0"/>
              <a:t>Fast Billing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Pain Points:</a:t>
            </a:r>
          </a:p>
          <a:p>
            <a:endParaRPr lang="en-IN" sz="1600" dirty="0"/>
          </a:p>
          <a:p>
            <a:r>
              <a:rPr lang="en-IN" sz="1600" dirty="0"/>
              <a:t>Manual Calculation</a:t>
            </a:r>
          </a:p>
          <a:p>
            <a:r>
              <a:rPr lang="en-IN" sz="1600" dirty="0"/>
              <a:t>Duplicate Entry</a:t>
            </a: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Stories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94D1FD3-EB27-EA99-971C-71A8634A8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271009"/>
              </p:ext>
            </p:extLst>
          </p:nvPr>
        </p:nvGraphicFramePr>
        <p:xfrm>
          <a:off x="1881529" y="2397995"/>
          <a:ext cx="812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480862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85774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Story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4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As a customer, I want to register so that I can place orders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10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As a manager, I want to manage products.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66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US-03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a cashier, I want to generate bills.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94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US-04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an owner, I want reports.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79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US-05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inventory manager, I want stock updates automatically.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621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 Diagram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2114A-E884-C78E-E83A-404AA2F4CEF5}"/>
              </a:ext>
            </a:extLst>
          </p:cNvPr>
          <p:cNvSpPr txBox="1"/>
          <p:nvPr/>
        </p:nvSpPr>
        <p:spPr>
          <a:xfrm>
            <a:off x="1137213" y="2472913"/>
            <a:ext cx="609407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Actors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Manager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Cashier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EB2D0D-49C2-8611-85E7-3E03FAB8A25B}"/>
              </a:ext>
            </a:extLst>
          </p:cNvPr>
          <p:cNvSpPr txBox="1"/>
          <p:nvPr/>
        </p:nvSpPr>
        <p:spPr>
          <a:xfrm>
            <a:off x="7393329" y="2241419"/>
            <a:ext cx="609407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Cases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Login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Register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Add Product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Update Product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Manage Inventory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Place Order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 Report</a:t>
            </a:r>
          </a:p>
        </p:txBody>
      </p:sp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9113C-8466-AC99-8145-ED08D7051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55" y="1557913"/>
            <a:ext cx="10983131" cy="4572752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en-US" sz="1800" b="1" dirty="0"/>
              <a:t>Sections</a:t>
            </a:r>
          </a:p>
          <a:p>
            <a:pPr lvl="1" indent="0">
              <a:buNone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Success Criteria</a:t>
            </a:r>
            <a:endParaRPr lang="en-IN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689B81-47D1-10F2-121D-80E36EB9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BRD Overview</a:t>
            </a:r>
          </a:p>
        </p:txBody>
      </p:sp>
    </p:spTree>
    <p:extLst>
      <p:ext uri="{BB962C8B-B14F-4D97-AF65-F5344CB8AC3E}">
        <p14:creationId xmlns:p14="http://schemas.microsoft.com/office/powerpoint/2010/main" val="183706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DCEA-1397-7366-EB57-FA855BF32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  Modules</a:t>
            </a:r>
          </a:p>
          <a:p>
            <a:endParaRPr lang="en-US" sz="1800" b="1" dirty="0"/>
          </a:p>
          <a:p>
            <a:pPr marL="171450" indent="-171450"/>
            <a:r>
              <a:rPr lang="en-US" sz="1600" dirty="0"/>
              <a:t>Customer Module</a:t>
            </a:r>
          </a:p>
          <a:p>
            <a:pPr marL="171450" indent="-171450"/>
            <a:r>
              <a:rPr lang="en-US" sz="1600" dirty="0"/>
              <a:t>Product Module</a:t>
            </a:r>
          </a:p>
          <a:p>
            <a:pPr marL="171450" indent="-171450"/>
            <a:r>
              <a:rPr lang="en-US" sz="1600" dirty="0"/>
              <a:t>Category Module</a:t>
            </a:r>
          </a:p>
          <a:p>
            <a:pPr marL="171450" indent="-171450"/>
            <a:r>
              <a:rPr lang="en-US" sz="1600" dirty="0"/>
              <a:t>Inventory Module</a:t>
            </a:r>
          </a:p>
          <a:p>
            <a:pPr marL="171450" indent="-171450"/>
            <a:r>
              <a:rPr lang="en-US" sz="1600" dirty="0"/>
              <a:t>Order Module</a:t>
            </a:r>
          </a:p>
          <a:p>
            <a:pPr marL="171450" indent="-171450"/>
            <a:r>
              <a:rPr lang="en-US" sz="1600" dirty="0"/>
              <a:t>Reports Module</a:t>
            </a:r>
            <a:endParaRPr lang="en-IN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0D8BBC-CB9D-0F31-2CED-7E539209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FRD Overview</a:t>
            </a:r>
          </a:p>
        </p:txBody>
      </p:sp>
    </p:spTree>
    <p:extLst>
      <p:ext uri="{BB962C8B-B14F-4D97-AF65-F5344CB8AC3E}">
        <p14:creationId xmlns:p14="http://schemas.microsoft.com/office/powerpoint/2010/main" val="291494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659357-F7B0-7B04-A7CA-6CAC0D3DC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IN" sz="1800" b="1" dirty="0"/>
              <a:t>Entities</a:t>
            </a:r>
          </a:p>
          <a:p>
            <a:pPr marL="285750" indent="-285750"/>
            <a:endParaRPr lang="en-IN" sz="1800" b="1" dirty="0"/>
          </a:p>
          <a:p>
            <a:pPr marL="285750" indent="-285750"/>
            <a:r>
              <a:rPr lang="en-IN" sz="1600" dirty="0"/>
              <a:t>Customer</a:t>
            </a:r>
          </a:p>
          <a:p>
            <a:pPr marL="285750" indent="-285750"/>
            <a:r>
              <a:rPr lang="en-IN" sz="1600" dirty="0"/>
              <a:t>Category</a:t>
            </a:r>
          </a:p>
          <a:p>
            <a:pPr marL="285750" indent="-285750"/>
            <a:r>
              <a:rPr lang="en-IN" sz="1600" dirty="0"/>
              <a:t>Product</a:t>
            </a:r>
          </a:p>
          <a:p>
            <a:pPr marL="285750" indent="-285750"/>
            <a:r>
              <a:rPr lang="en-IN" sz="1600" dirty="0"/>
              <a:t>Orders</a:t>
            </a:r>
          </a:p>
          <a:p>
            <a:pPr marL="285750" indent="-285750"/>
            <a:r>
              <a:rPr lang="en-IN" sz="1600" dirty="0"/>
              <a:t>Order Details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FCAE17-6D30-CC5F-C481-1557B682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ER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45138-7224-A928-6859-450AA5868D86}"/>
              </a:ext>
            </a:extLst>
          </p:cNvPr>
          <p:cNvSpPr txBox="1"/>
          <p:nvPr/>
        </p:nvSpPr>
        <p:spPr>
          <a:xfrm>
            <a:off x="778398" y="5807631"/>
            <a:ext cx="10124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Database normalized using Primary Key and Foreign Key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56694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FA0412-9B95-E0EC-B88E-736D7CB4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IN" sz="1800" b="1" dirty="0"/>
              <a:t>Tables</a:t>
            </a:r>
          </a:p>
          <a:p>
            <a:pPr marL="285750" indent="-285750"/>
            <a:endParaRPr lang="en-IN" sz="1800" b="1" dirty="0"/>
          </a:p>
          <a:p>
            <a:pPr marL="285750" indent="-285750"/>
            <a:r>
              <a:rPr lang="en-IN" sz="1600" dirty="0"/>
              <a:t>Customer</a:t>
            </a:r>
          </a:p>
          <a:p>
            <a:pPr marL="285750" indent="-285750"/>
            <a:r>
              <a:rPr lang="en-IN" sz="1600" dirty="0"/>
              <a:t>Category</a:t>
            </a:r>
          </a:p>
          <a:p>
            <a:pPr marL="285750" indent="-285750"/>
            <a:r>
              <a:rPr lang="en-IN" sz="1600" dirty="0"/>
              <a:t>Product</a:t>
            </a:r>
          </a:p>
          <a:p>
            <a:pPr marL="285750" indent="-285750"/>
            <a:r>
              <a:rPr lang="en-IN" sz="1600" dirty="0"/>
              <a:t>Orders</a:t>
            </a:r>
          </a:p>
          <a:p>
            <a:pPr marL="285750" indent="-285750"/>
            <a:r>
              <a:rPr lang="en-IN" sz="1600" dirty="0"/>
              <a:t>Order Details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D49A6A-E4D9-4F6C-6FB2-42990D91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Database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3D314-ABB2-74D0-5DA1-384D0531220B}"/>
              </a:ext>
            </a:extLst>
          </p:cNvPr>
          <p:cNvSpPr txBox="1"/>
          <p:nvPr/>
        </p:nvSpPr>
        <p:spPr>
          <a:xfrm>
            <a:off x="5373547" y="1604211"/>
            <a:ext cx="609407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Mention</a:t>
            </a:r>
          </a:p>
          <a:p>
            <a:endParaRPr lang="en-IN" b="1" dirty="0"/>
          </a:p>
          <a:p>
            <a:endParaRPr lang="en-IN" dirty="0"/>
          </a:p>
          <a:p>
            <a:r>
              <a:rPr lang="en-IN" sz="1600" dirty="0"/>
              <a:t>Primary Keys</a:t>
            </a:r>
          </a:p>
          <a:p>
            <a:endParaRPr lang="en-IN" sz="1600" dirty="0"/>
          </a:p>
          <a:p>
            <a:r>
              <a:rPr lang="en-IN" sz="1600" dirty="0"/>
              <a:t>Foreign Keys</a:t>
            </a:r>
          </a:p>
          <a:p>
            <a:endParaRPr lang="en-IN" sz="1600" dirty="0"/>
          </a:p>
          <a:p>
            <a:r>
              <a:rPr lang="en-IN" sz="1600" dirty="0"/>
              <a:t>Constraints</a:t>
            </a:r>
          </a:p>
          <a:p>
            <a:endParaRPr lang="en-IN" sz="1600" dirty="0"/>
          </a:p>
          <a:p>
            <a:r>
              <a:rPr lang="en-IN" sz="1600" dirty="0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4226554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F3E3B8-B1D3-54E3-F35B-AB46611C5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352" y="1650510"/>
            <a:ext cx="10983131" cy="4572752"/>
          </a:xfrm>
        </p:spPr>
        <p:txBody>
          <a:bodyPr>
            <a:normAutofit/>
          </a:bodyPr>
          <a:lstStyle/>
          <a:p>
            <a:r>
              <a:rPr lang="en-IN" sz="1800" b="1" dirty="0"/>
              <a:t>CREATE TABLE</a:t>
            </a:r>
          </a:p>
          <a:p>
            <a:endParaRPr lang="en-IN" sz="1800" b="1" dirty="0"/>
          </a:p>
          <a:p>
            <a:pPr marL="285750" indent="-285750"/>
            <a:r>
              <a:rPr lang="en-IN" sz="1600" dirty="0"/>
              <a:t>INSERT</a:t>
            </a:r>
          </a:p>
          <a:p>
            <a:pPr marL="285750" indent="-285750"/>
            <a:r>
              <a:rPr lang="en-IN" sz="1600" dirty="0"/>
              <a:t>SELECT</a:t>
            </a:r>
          </a:p>
          <a:p>
            <a:pPr marL="285750" indent="-285750"/>
            <a:r>
              <a:rPr lang="en-IN" sz="1600" dirty="0"/>
              <a:t>JOIN</a:t>
            </a:r>
          </a:p>
          <a:p>
            <a:pPr marL="285750" indent="-285750"/>
            <a:r>
              <a:rPr lang="en-IN" sz="1600" dirty="0"/>
              <a:t>GROUP BY</a:t>
            </a:r>
          </a:p>
          <a:p>
            <a:pPr marL="285750" indent="-285750"/>
            <a:r>
              <a:rPr lang="en-IN" sz="1600" dirty="0"/>
              <a:t>ORDER BY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1E35C-311F-3C17-4B95-4DD3C8FD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FB08D-B034-54C0-DBAE-F5FE9CF4763E}"/>
              </a:ext>
            </a:extLst>
          </p:cNvPr>
          <p:cNvSpPr txBox="1"/>
          <p:nvPr/>
        </p:nvSpPr>
        <p:spPr>
          <a:xfrm>
            <a:off x="998317" y="5853930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Database created successfully using MySQL Workbench.</a:t>
            </a:r>
          </a:p>
        </p:txBody>
      </p:sp>
    </p:spTree>
    <p:extLst>
      <p:ext uri="{BB962C8B-B14F-4D97-AF65-F5344CB8AC3E}">
        <p14:creationId xmlns:p14="http://schemas.microsoft.com/office/powerpoint/2010/main" val="183894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729C9E-76BD-21D0-097E-DC2A4A06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352" y="1743108"/>
            <a:ext cx="10983131" cy="4572752"/>
          </a:xfrm>
        </p:spPr>
        <p:txBody>
          <a:bodyPr>
            <a:normAutofit/>
          </a:bodyPr>
          <a:lstStyle/>
          <a:p>
            <a:r>
              <a:rPr lang="en-US" sz="1800" b="1" dirty="0"/>
              <a:t>Reports</a:t>
            </a:r>
          </a:p>
          <a:p>
            <a:endParaRPr lang="en-US" sz="1800" b="1" dirty="0"/>
          </a:p>
          <a:p>
            <a:r>
              <a:rPr lang="en-US" sz="1600" dirty="0"/>
              <a:t>Sales Report</a:t>
            </a:r>
          </a:p>
          <a:p>
            <a:r>
              <a:rPr lang="en-US" sz="1600" dirty="0"/>
              <a:t>Stock Report</a:t>
            </a:r>
          </a:p>
          <a:p>
            <a:r>
              <a:rPr lang="en-US" sz="1600" dirty="0"/>
              <a:t>Customer Report</a:t>
            </a:r>
          </a:p>
          <a:p>
            <a:r>
              <a:rPr lang="en-US" sz="1600" dirty="0"/>
              <a:t>Product Report</a:t>
            </a:r>
            <a:endParaRPr lang="en-IN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562DD2-3E25-CEC3-3BF7-0E2A768E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&amp; Reports</a:t>
            </a:r>
          </a:p>
        </p:txBody>
      </p:sp>
    </p:spTree>
    <p:extLst>
      <p:ext uri="{BB962C8B-B14F-4D97-AF65-F5344CB8AC3E}">
        <p14:creationId xmlns:p14="http://schemas.microsoft.com/office/powerpoint/2010/main" val="3498762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483E0B-E12B-37F9-C461-17BCBE4A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Test Cases</a:t>
            </a:r>
          </a:p>
          <a:p>
            <a:endParaRPr lang="en-US" sz="1800" b="1" dirty="0"/>
          </a:p>
          <a:p>
            <a:r>
              <a:rPr lang="en-US" sz="1700" dirty="0"/>
              <a:t>Login Test</a:t>
            </a:r>
          </a:p>
          <a:p>
            <a:r>
              <a:rPr lang="en-US" sz="1700" dirty="0"/>
              <a:t>Add Product</a:t>
            </a:r>
          </a:p>
          <a:p>
            <a:r>
              <a:rPr lang="en-US" sz="1700" dirty="0"/>
              <a:t>Place Order</a:t>
            </a:r>
          </a:p>
          <a:p>
            <a:r>
              <a:rPr lang="en-US" sz="1700" dirty="0"/>
              <a:t>Update Stock</a:t>
            </a:r>
          </a:p>
          <a:p>
            <a:r>
              <a:rPr lang="en-US" sz="1700" dirty="0"/>
              <a:t>Generate Report</a:t>
            </a:r>
          </a:p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UAT✔️ Passed</a:t>
            </a:r>
            <a:endParaRPr lang="en-IN" sz="17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C453E6-56C8-02D7-83F4-E0D69700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277425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E76DA4-EC47-7BB2-2437-55E295B3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Challenges</a:t>
            </a:r>
          </a:p>
          <a:p>
            <a:endParaRPr lang="en-IN" sz="1800" b="1" dirty="0"/>
          </a:p>
          <a:p>
            <a:r>
              <a:rPr lang="en-IN" sz="1600" dirty="0"/>
              <a:t>Installing MySQL Workbench</a:t>
            </a:r>
          </a:p>
          <a:p>
            <a:r>
              <a:rPr lang="en-IN" sz="1600" dirty="0"/>
              <a:t>Environment setup</a:t>
            </a:r>
          </a:p>
          <a:p>
            <a:r>
              <a:rPr lang="en-IN" sz="1600" dirty="0"/>
              <a:t>SQL syntax debugging</a:t>
            </a:r>
          </a:p>
          <a:p>
            <a:r>
              <a:rPr lang="en-IN" sz="1600" dirty="0"/>
              <a:t>Database relationship creation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03902-8A3A-809F-7369-11FB5C5E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Challenges &amp; Learnings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6467C-0765-48FE-3DEC-8447DD2A97E1}"/>
              </a:ext>
            </a:extLst>
          </p:cNvPr>
          <p:cNvSpPr txBox="1"/>
          <p:nvPr/>
        </p:nvSpPr>
        <p:spPr>
          <a:xfrm>
            <a:off x="6097930" y="1604211"/>
            <a:ext cx="609407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Learnings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1600" dirty="0"/>
              <a:t>Requirement Gathering</a:t>
            </a:r>
          </a:p>
          <a:p>
            <a:endParaRPr lang="en-IN" sz="1600" dirty="0"/>
          </a:p>
          <a:p>
            <a:r>
              <a:rPr lang="en-IN" sz="1600" dirty="0"/>
              <a:t>Database Design</a:t>
            </a:r>
          </a:p>
          <a:p>
            <a:endParaRPr lang="en-IN" sz="1600" dirty="0"/>
          </a:p>
          <a:p>
            <a:r>
              <a:rPr lang="en-IN" sz="1600" dirty="0"/>
              <a:t>SQL</a:t>
            </a:r>
          </a:p>
          <a:p>
            <a:endParaRPr lang="en-IN" sz="1600" dirty="0"/>
          </a:p>
          <a:p>
            <a:r>
              <a:rPr lang="en-IN" sz="1600" dirty="0"/>
              <a:t>Documentation</a:t>
            </a:r>
          </a:p>
          <a:p>
            <a:endParaRPr lang="en-IN" sz="1600" dirty="0"/>
          </a:p>
          <a:p>
            <a:r>
              <a:rPr lang="en-IN" sz="1600" dirty="0"/>
              <a:t>Business Analysis</a:t>
            </a:r>
          </a:p>
          <a:p>
            <a:endParaRPr lang="en-IN" sz="1600" dirty="0"/>
          </a:p>
          <a:p>
            <a:r>
              <a:rPr lang="en-IN" sz="1600" dirty="0"/>
              <a:t>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2665020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FAD66-799B-869F-54F8-17FCC39F0EAD}"/>
              </a:ext>
            </a:extLst>
          </p:cNvPr>
          <p:cNvSpPr txBox="1"/>
          <p:nvPr/>
        </p:nvSpPr>
        <p:spPr>
          <a:xfrm>
            <a:off x="755249" y="2704408"/>
            <a:ext cx="60940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Achievements</a:t>
            </a:r>
          </a:p>
          <a:p>
            <a:endParaRPr lang="en-IN" b="1" dirty="0"/>
          </a:p>
          <a:p>
            <a:endParaRPr lang="en-IN" dirty="0"/>
          </a:p>
          <a:p>
            <a:r>
              <a:rPr lang="en-IN" sz="1600" dirty="0"/>
              <a:t>Complete BA Documentation</a:t>
            </a:r>
          </a:p>
          <a:p>
            <a:endParaRPr lang="en-IN" sz="1600" dirty="0"/>
          </a:p>
          <a:p>
            <a:r>
              <a:rPr lang="en-IN" sz="1600" dirty="0"/>
              <a:t>SQL Database Developed</a:t>
            </a:r>
          </a:p>
          <a:p>
            <a:endParaRPr lang="en-IN" sz="1600" dirty="0"/>
          </a:p>
          <a:p>
            <a:r>
              <a:rPr lang="en-IN" sz="1600" dirty="0"/>
              <a:t>Business Process Improvement</a:t>
            </a:r>
          </a:p>
          <a:p>
            <a:endParaRPr lang="en-IN" sz="1600" dirty="0"/>
          </a:p>
          <a:p>
            <a:r>
              <a:rPr lang="en-IN" sz="1600" dirty="0"/>
              <a:t>Requirement Analysis</a:t>
            </a:r>
          </a:p>
          <a:p>
            <a:endParaRPr lang="en-IN" sz="1600" dirty="0"/>
          </a:p>
          <a:p>
            <a:r>
              <a:rPr lang="en-IN" sz="1600" dirty="0"/>
              <a:t>Ready for Real-World 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7293D4-4C21-F0BE-CC89-BBF0DE784E70}"/>
              </a:ext>
            </a:extLst>
          </p:cNvPr>
          <p:cNvSpPr txBox="1"/>
          <p:nvPr/>
        </p:nvSpPr>
        <p:spPr>
          <a:xfrm>
            <a:off x="6097930" y="609459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/>
              </a:rPr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{2420DD9D-EAD4-4547-A9B0-7E0B4B910D16}TF1b6f9bfa-769c-4e44-b3db-2615999da08e4eb5ee7a_win32-a6c35a7f46f2</Template>
  <TotalTime>223</TotalTime>
  <Words>709</Words>
  <Application>Microsoft Office PowerPoint</Application>
  <PresentationFormat>Widescreen</PresentationFormat>
  <Paragraphs>309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Segoe UI</vt:lpstr>
      <vt:lpstr>Segoe UI Light</vt:lpstr>
      <vt:lpstr>Get Started with 3D</vt:lpstr>
      <vt:lpstr>SHREE MART End-to-End Business Analysis Case Study</vt:lpstr>
      <vt:lpstr>Executive Summary </vt:lpstr>
      <vt:lpstr>Project Scope</vt:lpstr>
      <vt:lpstr>Business Requirements</vt:lpstr>
      <vt:lpstr>Business Process Improvement</vt:lpstr>
      <vt:lpstr>Stakeholder Analysis</vt:lpstr>
      <vt:lpstr>User Personas</vt:lpstr>
      <vt:lpstr>User Stories</vt:lpstr>
      <vt:lpstr>Use Case Diagram </vt:lpstr>
      <vt:lpstr>BRD Overview</vt:lpstr>
      <vt:lpstr>FRD Overview</vt:lpstr>
      <vt:lpstr>ER Diagram</vt:lpstr>
      <vt:lpstr>SQL Database Design</vt:lpstr>
      <vt:lpstr>SQL Queries</vt:lpstr>
      <vt:lpstr>Dashboard &amp; Reports</vt:lpstr>
      <vt:lpstr>Testing</vt:lpstr>
      <vt:lpstr>Project Challenges &amp; Learnings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mahjan</dc:creator>
  <cp:lastModifiedBy>ganesh mahjan</cp:lastModifiedBy>
  <cp:revision>1</cp:revision>
  <dcterms:created xsi:type="dcterms:W3CDTF">2026-07-09T13:27:36Z</dcterms:created>
  <dcterms:modified xsi:type="dcterms:W3CDTF">2026-07-09T17:10:55Z</dcterms:modified>
</cp:coreProperties>
</file>